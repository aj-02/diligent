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60" r:id="rId3"/>
    <p:sldId id="261" r:id="rId4"/>
    <p:sldId id="257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D490FC-85A8-4E2B-9C9D-F979ABCC6CA7}" v="3" dt="2025-11-20T10:23:18.8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35"/>
  </p:normalViewPr>
  <p:slideViewPr>
    <p:cSldViewPr snapToGrid="0">
      <p:cViewPr varScale="1">
        <p:scale>
          <a:sx n="60" d="100"/>
          <a:sy n="60" d="100"/>
        </p:scale>
        <p:origin x="8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nav Johri" userId="c7c0f912-32c2-467b-834b-305c6e5ab77b" providerId="ADAL" clId="{9DD490FC-85A8-4E2B-9C9D-F979ABCC6CA7}"/>
    <pc:docChg chg="modSld">
      <pc:chgData name="Arnav Johri" userId="c7c0f912-32c2-467b-834b-305c6e5ab77b" providerId="ADAL" clId="{9DD490FC-85A8-4E2B-9C9D-F979ABCC6CA7}" dt="2025-11-20T10:23:18.810" v="3" actId="14100"/>
      <pc:docMkLst>
        <pc:docMk/>
      </pc:docMkLst>
      <pc:sldChg chg="modSp mod">
        <pc:chgData name="Arnav Johri" userId="c7c0f912-32c2-467b-834b-305c6e5ab77b" providerId="ADAL" clId="{9DD490FC-85A8-4E2B-9C9D-F979ABCC6CA7}" dt="2025-11-19T07:09:49.191" v="1" actId="1076"/>
        <pc:sldMkLst>
          <pc:docMk/>
          <pc:sldMk cId="1439747037" sldId="257"/>
        </pc:sldMkLst>
        <pc:spChg chg="mod">
          <ac:chgData name="Arnav Johri" userId="c7c0f912-32c2-467b-834b-305c6e5ab77b" providerId="ADAL" clId="{9DD490FC-85A8-4E2B-9C9D-F979ABCC6CA7}" dt="2025-11-19T07:09:49.191" v="1" actId="1076"/>
          <ac:spMkLst>
            <pc:docMk/>
            <pc:sldMk cId="1439747037" sldId="257"/>
            <ac:spMk id="2" creationId="{E383727E-4ECB-C97C-DF5F-8122BCFC7D5E}"/>
          </ac:spMkLst>
        </pc:spChg>
        <pc:graphicFrameChg chg="modGraphic">
          <ac:chgData name="Arnav Johri" userId="c7c0f912-32c2-467b-834b-305c6e5ab77b" providerId="ADAL" clId="{9DD490FC-85A8-4E2B-9C9D-F979ABCC6CA7}" dt="2025-11-19T05:41:02.754" v="0" actId="14734"/>
          <ac:graphicFrameMkLst>
            <pc:docMk/>
            <pc:sldMk cId="1439747037" sldId="257"/>
            <ac:graphicFrameMk id="4" creationId="{46C3C9E1-4B3E-A9B8-6993-12F64FA8C787}"/>
          </ac:graphicFrameMkLst>
        </pc:graphicFrameChg>
      </pc:sldChg>
      <pc:sldChg chg="modSp">
        <pc:chgData name="Arnav Johri" userId="c7c0f912-32c2-467b-834b-305c6e5ab77b" providerId="ADAL" clId="{9DD490FC-85A8-4E2B-9C9D-F979ABCC6CA7}" dt="2025-11-20T10:23:18.810" v="3" actId="14100"/>
        <pc:sldMkLst>
          <pc:docMk/>
          <pc:sldMk cId="3231862321" sldId="259"/>
        </pc:sldMkLst>
        <pc:spChg chg="mod">
          <ac:chgData name="Arnav Johri" userId="c7c0f912-32c2-467b-834b-305c6e5ab77b" providerId="ADAL" clId="{9DD490FC-85A8-4E2B-9C9D-F979ABCC6CA7}" dt="2025-11-20T10:23:18.810" v="3" actId="14100"/>
          <ac:spMkLst>
            <pc:docMk/>
            <pc:sldMk cId="3231862321" sldId="259"/>
            <ac:spMk id="4" creationId="{E3711ED5-C14F-8B3A-BD9A-2DFB79EBA24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187FA-8959-55B2-60CA-22EB257C85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043CE5-1F82-05C8-057A-227D93BBD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FC5B74-347A-94BC-9048-AE110B207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AABB1-6056-0142-953B-AAFC12CC1AAD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3CFF9-D2C3-D1FB-E1E9-787DDF631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CEEBA-2BA6-9FA7-35F3-7C37726F4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62171-DAAB-0E4A-85D9-8D679DEFC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585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BFE1D-099A-9141-E949-5B7E2E473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A6F35-71DB-25B7-0F85-83F26F40C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30DDD-2DD2-7678-FE37-A0AC7324A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AABB1-6056-0142-953B-AAFC12CC1AAD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C76157-0C29-1ECC-EF55-7F78CA21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C871C-8818-C941-17A4-B9B880CBC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62171-DAAB-0E4A-85D9-8D679DEFC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277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E866A-CD13-E29F-AE94-57284DFDD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67DFF-4746-36C2-0D01-C75C78889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2238FD-5108-E7B9-103A-0F6783D40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AABB1-6056-0142-953B-AAFC12CC1AAD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22BEB2-3950-9802-F547-9012726D7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84B17-0353-5AF0-E5C6-ADA80A49D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62171-DAAB-0E4A-85D9-8D679DEFC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596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38C39-4780-EBB7-99CE-AFEFB8DDF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3A3D3-81D7-ABF0-1FA6-C9504E9ED1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8529C1-62C4-D140-453D-3B7F8E90F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2E5BF5-C232-5D78-C76F-991AEF3ED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AABB1-6056-0142-953B-AAFC12CC1AAD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314804-4DF9-AF4F-311D-F235074DD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62EF90-297E-E054-C5D6-A827A9FC9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62171-DAAB-0E4A-85D9-8D679DEFC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772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0DEBF-B00B-860C-55AD-CBA479022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3F303F-41F1-AD4A-A259-F43B9E3732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3BFCCE-30FE-C2A5-6C51-A79550F1B1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789978-EA82-C905-F083-1107D953FC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6EC45C-5D42-6183-6B31-321F523B05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FAC1A7-88CB-CBC2-0B52-C0134D98D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AABB1-6056-0142-953B-AAFC12CC1AAD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35BABC-1690-320A-AA9E-69573C4EA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8EC59A-CE55-A82F-F1FB-B0EAD3F51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62171-DAAB-0E4A-85D9-8D679DEFC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219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400EA-9540-0D3C-F9B9-58B4E1BC9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483D5E-C763-5A5D-DDFF-3CD021490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AABB1-6056-0142-953B-AAFC12CC1AAD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6CB6B2-8492-4BB6-7C99-331C82A9C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7A0992-7982-1D57-8390-FEE438B23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62171-DAAB-0E4A-85D9-8D679DEFC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003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937321-D8F2-541E-591F-17E57DF03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AABB1-6056-0142-953B-AAFC12CC1AAD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88E12D-F80C-901C-018B-69EDEB135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1620F6-764B-4615-69CD-528FF96F0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62171-DAAB-0E4A-85D9-8D679DEFC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219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D7C7B-8CA5-BA5B-86FA-587BD5C7B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2D88C-EA8D-7986-756C-BD5E99D42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FE3A35-1C1D-F36B-3B91-FACB3478FF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17BDC7-D6D0-BF50-8E71-B8501E5C2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AABB1-6056-0142-953B-AAFC12CC1AAD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4D40D1-EB42-C63A-2D07-3E23D5E19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AAE957-3421-27AD-D99F-A7CBD0FB6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62171-DAAB-0E4A-85D9-8D679DEFC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326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8C63A-2393-0F85-1618-D98A257DB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1CFCE5-7432-CD5E-8C27-CF0663811C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5520C-9461-EAC6-2F24-D10DD8A85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700B55-C33D-2CF3-0634-C9C5C4A13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AABB1-6056-0142-953B-AAFC12CC1AAD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42D4DB-7D87-BD89-08B0-DCA1E4F6B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DE2B16-3C4C-87F6-6C83-748329B09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62171-DAAB-0E4A-85D9-8D679DEFC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359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81DE6-C877-EF17-6638-385E627A4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08FCAF-8A1B-2EB0-A57B-680D7C417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342102-ACA6-6599-973F-F52329006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AABB1-6056-0142-953B-AAFC12CC1AAD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561DD-CE1B-ECA5-C09C-CF9028D52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61360-3BEF-39B8-5E4E-70665BFE5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62171-DAAB-0E4A-85D9-8D679DEFC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083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0A55FA-2905-9723-A91C-42295BBAEE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B8FDC0-62AB-F1D7-E482-2C48B8F097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A47E0-0D7B-7CB9-A49F-B48A6050F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AABB1-6056-0142-953B-AAFC12CC1AAD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D2D02-FE60-FF79-FE0D-E200D5AEF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8977F-61F5-947E-D0EC-1937F5AE5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62171-DAAB-0E4A-85D9-8D679DEFC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41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5860BE-AB07-CE61-B97D-06C667E51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11285A-E9C5-AE39-AF09-F4DF8DAE8F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0639F-36DD-A7D5-02EC-850F932114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1AABB1-6056-0142-953B-AAFC12CC1AAD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9C9AF9-53D7-79C3-5BE0-484B74AFD9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2BDAA-B0C7-4F86-D7CD-230738772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262171-DAAB-0E4A-85D9-8D679DEFC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879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8B8D2-B2F2-94BA-24EF-C86C77BAF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9093"/>
            <a:ext cx="8875776" cy="451739"/>
          </a:xfrm>
        </p:spPr>
        <p:txBody>
          <a:bodyPr>
            <a:normAutofit/>
          </a:bodyPr>
          <a:lstStyle/>
          <a:p>
            <a:r>
              <a:rPr lang="en-US" sz="1800" dirty="0"/>
              <a:t>Table :  CEHSHOURWORKED  App name :  Manage work hours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FF0CC4-227A-BB7E-003A-4B5B67D88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618370"/>
            <a:ext cx="7772400" cy="20970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DEA038-3822-9AB3-B93B-7DEF731AD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0504" y="453498"/>
            <a:ext cx="7772400" cy="33318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8E4349-27D1-6E6E-F277-C2327A1B5F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" y="2772958"/>
            <a:ext cx="7772400" cy="36134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8D1DC85-7487-94AA-EBD7-5D4F8CEEBA20}"/>
              </a:ext>
            </a:extLst>
          </p:cNvPr>
          <p:cNvSpPr txBox="1"/>
          <p:nvPr/>
        </p:nvSpPr>
        <p:spPr>
          <a:xfrm>
            <a:off x="6412992" y="4352274"/>
            <a:ext cx="55595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Worker type changes  - Add Contractor Male and Contractor Female  </a:t>
            </a:r>
          </a:p>
          <a:p>
            <a:r>
              <a:rPr lang="en-US" dirty="0"/>
              <a:t>We have add plant as mandatory instead of location</a:t>
            </a:r>
          </a:p>
        </p:txBody>
      </p:sp>
    </p:spTree>
    <p:extLst>
      <p:ext uri="{BB962C8B-B14F-4D97-AF65-F5344CB8AC3E}">
        <p14:creationId xmlns:p14="http://schemas.microsoft.com/office/powerpoint/2010/main" val="4138973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5">
            <a:extLst>
              <a:ext uri="{FF2B5EF4-FFF2-40B4-BE49-F238E27FC236}">
                <a16:creationId xmlns:a16="http://schemas.microsoft.com/office/drawing/2014/main" id="{861064FC-5521-0E22-CD9F-DA396CF420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304" y="760152"/>
            <a:ext cx="7790688" cy="5740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1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100" b="1" dirty="0">
              <a:solidFill>
                <a:srgbClr val="212121"/>
              </a:solidFill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DART - Employees away from work/Frequency Rate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Proposed Formula 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The DART/Frequency Rate shall be calculated for lost time injury as follows: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DART/Frequency Rate: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ptos" panose="020B0004020202020204" pitchFamily="34" charset="0"/>
              </a:rPr>
              <a:t>Number of Lost Time Injuries x1000000/Man-Hours Worked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 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 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Logic for DART : 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Number of lost Time injures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 : This values considered from People table 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Wingdings" pitchFamily="2" charset="2"/>
              </a:rPr>
              <a:t>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 Injured person 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Wingdings" pitchFamily="2" charset="2"/>
              </a:rPr>
              <a:t>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 Absences /restriction tab 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 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1" u="sng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Category : Absence 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1" u="sng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Absences /restriction type: Lost time injury (LTI)  </a:t>
            </a:r>
            <a:r>
              <a:rPr kumimoji="0" lang="en-US" altLang="en-US" sz="1100" b="1" i="1" u="sng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(We have considered one if entry is available)</a:t>
            </a:r>
            <a:endParaRPr kumimoji="0" lang="en-US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 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  </a:t>
            </a:r>
            <a:r>
              <a:rPr kumimoji="0" lang="en-US" altLang="en-US" sz="119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                       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 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sng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Example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 : if in year 2024 to 2025 -   lost time injured occurred are 6 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Man-Hours Worked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 : 2,500,000 total hours in a year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 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Calculation will be :  (6 *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1000000)/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2,500,000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 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Result :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2.4 lost time injuries for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Roboto" panose="02000000000000000000" pitchFamily="2" charset="0"/>
              </a:rPr>
              <a:t>every 1 million hours worked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4" name="Picture 6" descr="Image">
            <a:extLst>
              <a:ext uri="{FF2B5EF4-FFF2-40B4-BE49-F238E27FC236}">
                <a16:creationId xmlns:a16="http://schemas.microsoft.com/office/drawing/2014/main" id="{B39E3226-1548-32E7-5E3D-66DE6AD3AC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04" y="3201606"/>
            <a:ext cx="6807200" cy="1892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B65E346-C66E-E184-901F-F257EAD87205}"/>
              </a:ext>
            </a:extLst>
          </p:cNvPr>
          <p:cNvSpPr txBox="1"/>
          <p:nvPr/>
        </p:nvSpPr>
        <p:spPr>
          <a:xfrm>
            <a:off x="8119872" y="1158240"/>
            <a:ext cx="375513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Man-hours worked  :  table : CEHSHOURWORKED – field EHSWORKEDTIMEINHOURS</a:t>
            </a:r>
          </a:p>
          <a:p>
            <a:endParaRPr lang="en-US" dirty="0"/>
          </a:p>
          <a:p>
            <a:r>
              <a:rPr lang="en-US" dirty="0"/>
              <a:t>Number of lost Time injures</a:t>
            </a:r>
          </a:p>
          <a:p>
            <a:endParaRPr lang="en-US" dirty="0"/>
          </a:p>
          <a:p>
            <a:r>
              <a:rPr lang="en-US" dirty="0"/>
              <a:t>Table: EHHSSD_INC_RESDU</a:t>
            </a:r>
          </a:p>
          <a:p>
            <a:r>
              <a:rPr lang="en-US" dirty="0"/>
              <a:t>Filed: </a:t>
            </a:r>
            <a:r>
              <a:rPr lang="en-IN" dirty="0"/>
              <a:t>RESDU-WORK_DAY_MEAS</a:t>
            </a:r>
            <a:r>
              <a:rPr lang="en-US" dirty="0"/>
              <a:t> </a:t>
            </a:r>
          </a:p>
          <a:p>
            <a:r>
              <a:rPr lang="en-US" dirty="0"/>
              <a:t>Category : Absence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Key Filter : EHHSSD_INC_ROOT </a:t>
            </a:r>
          </a:p>
          <a:p>
            <a:r>
              <a:rPr lang="en-US" dirty="0"/>
              <a:t>Category : 001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EFFE2B-2830-978C-90C3-D8F475351765}"/>
              </a:ext>
            </a:extLst>
          </p:cNvPr>
          <p:cNvSpPr txBox="1"/>
          <p:nvPr/>
        </p:nvSpPr>
        <p:spPr>
          <a:xfrm>
            <a:off x="146304" y="250093"/>
            <a:ext cx="670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Number of lost time Injuries – Custom development  </a:t>
            </a:r>
          </a:p>
        </p:txBody>
      </p:sp>
    </p:spTree>
    <p:extLst>
      <p:ext uri="{BB962C8B-B14F-4D97-AF65-F5344CB8AC3E}">
        <p14:creationId xmlns:p14="http://schemas.microsoft.com/office/powerpoint/2010/main" val="1624341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5E14EC8-A6D6-8C5E-0910-970D3B8D71AD}"/>
              </a:ext>
            </a:extLst>
          </p:cNvPr>
          <p:cNvSpPr txBox="1"/>
          <p:nvPr/>
        </p:nvSpPr>
        <p:spPr>
          <a:xfrm>
            <a:off x="121920" y="198070"/>
            <a:ext cx="90708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Condition 1) Incident Category 001</a:t>
            </a:r>
          </a:p>
          <a:p>
            <a:r>
              <a:rPr lang="en-US" sz="1400" dirty="0"/>
              <a:t>Condition 2) Person Role: Injured person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/>
              <a:t>Condition 3) </a:t>
            </a:r>
            <a:r>
              <a:rPr lang="en-US" altLang="en-US" sz="1400" dirty="0"/>
              <a:t>Category : Absence 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/>
              <a:t>Condition 4) </a:t>
            </a:r>
            <a:r>
              <a:rPr lang="en-US" altLang="en-US" sz="1400" dirty="0"/>
              <a:t>Absences /restriction type: Lost time injury (LTI)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5C073C-7C8C-DCE5-4638-514357573C28}"/>
              </a:ext>
            </a:extLst>
          </p:cNvPr>
          <p:cNvSpPr txBox="1"/>
          <p:nvPr/>
        </p:nvSpPr>
        <p:spPr>
          <a:xfrm>
            <a:off x="121920" y="1321046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Condition 1) Incident Category 001.   EHHSSD_INC_ROOT - CATEGORY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04CE18-7E42-5F42-5FBA-08F670F94D82}"/>
              </a:ext>
            </a:extLst>
          </p:cNvPr>
          <p:cNvSpPr txBox="1"/>
          <p:nvPr/>
        </p:nvSpPr>
        <p:spPr>
          <a:xfrm>
            <a:off x="121920" y="1766914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Condition 2) Person Role: Injured person :  EHHSSD_INC_PROLE  role: EHHSS_PR_INJURED_PER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23235A-5EC5-CB90-194E-C6562A47982A}"/>
              </a:ext>
            </a:extLst>
          </p:cNvPr>
          <p:cNvSpPr txBox="1"/>
          <p:nvPr/>
        </p:nvSpPr>
        <p:spPr>
          <a:xfrm>
            <a:off x="121920" y="2212782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/>
              <a:t>Condition 3) </a:t>
            </a:r>
            <a:r>
              <a:rPr lang="en-US" altLang="en-US" sz="1200" dirty="0"/>
              <a:t>Category : Absence  EHHSSD_INC_RESDU – CATEGORY </a:t>
            </a:r>
          </a:p>
        </p:txBody>
      </p:sp>
    </p:spTree>
    <p:extLst>
      <p:ext uri="{BB962C8B-B14F-4D97-AF65-F5344CB8AC3E}">
        <p14:creationId xmlns:p14="http://schemas.microsoft.com/office/powerpoint/2010/main" val="606419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C3C9E1-4B3E-A9B8-6993-12F64FA8C7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0956250"/>
              </p:ext>
            </p:extLst>
          </p:nvPr>
        </p:nvGraphicFramePr>
        <p:xfrm>
          <a:off x="372140" y="1353313"/>
          <a:ext cx="10759155" cy="53066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59155">
                  <a:extLst>
                    <a:ext uri="{9D8B030D-6E8A-4147-A177-3AD203B41FA5}">
                      <a16:colId xmlns:a16="http://schemas.microsoft.com/office/drawing/2014/main" val="1078692706"/>
                    </a:ext>
                  </a:extLst>
                </a:gridCol>
              </a:tblGrid>
              <a:tr h="530661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2400" u="none" strike="noStrike" dirty="0">
                          <a:effectLst/>
                        </a:rPr>
                        <a:t>From table EHHSSD_INC_ROOT get EHHSSD_INC_ROOT-ID and get the respective EHHSSD_INC_ROOT-DB_KEY. Pass this value in EHHSSD_INC_PROLE-ROOT_KEY and consider only those EHHSSD_INC_PROLE-ROLE = “EHHSS_PR_INJURED_PER”.  Now pass   EHHSSD_INC_PROLE-DB_KEY to EHHSSD_INC_RESDU-PARENT_KEY and get EHHSSD_INC_RESDU-WORK_DAY_MEAS and Multiply by 24 and show it against the Person Injured, </a:t>
                      </a:r>
                      <a:br>
                        <a:rPr lang="en-IN" sz="2400" u="none" strike="noStrike" dirty="0">
                          <a:effectLst/>
                        </a:rPr>
                      </a:br>
                      <a:r>
                        <a:rPr lang="en-IN" sz="2400" u="none" strike="noStrike" dirty="0">
                          <a:effectLst/>
                        </a:rPr>
                        <a:t>Derived from the following logic.</a:t>
                      </a:r>
                      <a:br>
                        <a:rPr lang="en-IN" sz="2400" u="none" strike="noStrike" dirty="0">
                          <a:effectLst/>
                        </a:rPr>
                      </a:br>
                      <a:r>
                        <a:rPr lang="en-IN" sz="2400" u="none" strike="noStrike" dirty="0">
                          <a:effectLst/>
                        </a:rPr>
                        <a:t>Pass EHHSSD_INC_RESDU-PARENT_KEY in EHHSSD_INC_PROLE-DB_KEY. Pass EHHSSD_INC_PROLE-PARENT_KEY in EHHSSD_INC_PINV-DB_KEY and show it against this injured person.</a:t>
                      </a:r>
                      <a:br>
                        <a:rPr lang="en-IN" sz="2400" u="none" strike="noStrike" dirty="0">
                          <a:effectLst/>
                        </a:rPr>
                      </a:br>
                      <a:r>
                        <a:rPr lang="en-IN" sz="2400" u="none" strike="noStrike" dirty="0">
                          <a:effectLst/>
                        </a:rPr>
                        <a:t> If more than 1 person get involved in an incident, then display all the values from EHHSSD_INC_PINV-DB_KEY.</a:t>
                      </a:r>
                      <a:br>
                        <a:rPr lang="en-IN" sz="2400" u="none" strike="noStrike" dirty="0">
                          <a:effectLst/>
                        </a:rPr>
                      </a:b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Trebuchet MS" panose="020B0703020202090204" pitchFamily="34" charset="0"/>
                      </a:endParaRPr>
                    </a:p>
                  </a:txBody>
                  <a:tcPr marL="4749" marR="4749" marT="4749" marB="0"/>
                </a:tc>
                <a:extLst>
                  <a:ext uri="{0D108BD9-81ED-4DB2-BD59-A6C34878D82A}">
                    <a16:rowId xmlns:a16="http://schemas.microsoft.com/office/drawing/2014/main" val="71580401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383727E-4ECB-C97C-DF5F-8122BCFC7D5E}"/>
              </a:ext>
            </a:extLst>
          </p:cNvPr>
          <p:cNvSpPr txBox="1"/>
          <p:nvPr/>
        </p:nvSpPr>
        <p:spPr>
          <a:xfrm>
            <a:off x="150796" y="198069"/>
            <a:ext cx="90708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Condition 1) Incident Category 001</a:t>
            </a:r>
          </a:p>
          <a:p>
            <a:r>
              <a:rPr lang="en-US" sz="1400" dirty="0"/>
              <a:t>Condition 2) Person Role: Injured person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/>
              <a:t>Condition 3) </a:t>
            </a:r>
            <a:r>
              <a:rPr lang="en-US" altLang="en-US" sz="1400" dirty="0"/>
              <a:t>Category : Absence 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/>
              <a:t>Condition 4) </a:t>
            </a:r>
            <a:r>
              <a:rPr lang="en-US" altLang="en-US" sz="1400" dirty="0"/>
              <a:t>Absences /restriction type: Lost time injury (LTI) </a:t>
            </a:r>
          </a:p>
        </p:txBody>
      </p:sp>
    </p:spTree>
    <p:extLst>
      <p:ext uri="{BB962C8B-B14F-4D97-AF65-F5344CB8AC3E}">
        <p14:creationId xmlns:p14="http://schemas.microsoft.com/office/powerpoint/2010/main" val="1439747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3711ED5-C14F-8B3A-BD9A-2DFB79EBA2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19" y="97318"/>
            <a:ext cx="10299701" cy="6663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Logic for 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Severity Rate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 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Incident Rate proposed to be replaced with Severity Rate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Proposed Formula 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The Severity Rate shall be calculated from man-days loss of lost time injury as follows: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Severity Rate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: Man-days lost due to Lost Time Injury x1000000/Man-Hours Worked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Number of lost Time injures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 : This values considered from People table 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Wingdings" pitchFamily="2" charset="2"/>
              </a:rPr>
              <a:t>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 Injured person 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Wingdings" pitchFamily="2" charset="2"/>
              </a:rPr>
              <a:t>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 Absences /restriction tab 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1" u="sng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Category : Absence 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1" u="sng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Absences /restriction type: Lost time injury (LTI) 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1" u="sng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Man-days lost due to Lost Time Injury  - Calendar days of Absence.     </a:t>
            </a:r>
            <a:r>
              <a:rPr kumimoji="0" lang="en-US" altLang="en-US" sz="1100" b="1" i="1" u="sng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( We have considered number of days) </a:t>
            </a:r>
            <a:endParaRPr kumimoji="0" lang="en-US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 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  </a:t>
            </a:r>
            <a:r>
              <a:rPr kumimoji="0" lang="en-US" altLang="en-US" sz="192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                  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Example: Man-days lost due to Lost Time Injury (including the weekend) – 38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Employee A: 5 man-days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Employee B: 3 man-days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Employee C: 30 man-days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Total man-days lost = 5 + 3 + 30 = 38 man-days. 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Man-Hours Worked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  : 2,500,000 total hours in a year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Calculation: (38*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1000000)/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2,500,000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ptos" panose="020B0004020202020204" pitchFamily="34" charset="0"/>
              </a:rPr>
              <a:t>Result: Lost Time Injury Severity Rate 15.2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Image">
            <a:extLst>
              <a:ext uri="{FF2B5EF4-FFF2-40B4-BE49-F238E27FC236}">
                <a16:creationId xmlns:a16="http://schemas.microsoft.com/office/drawing/2014/main" id="{F2517080-A578-A7B4-BB4C-67B5D17640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" y="2039112"/>
            <a:ext cx="102997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1862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4837</TotalTime>
  <Words>680</Words>
  <Application>Microsoft Office PowerPoint</Application>
  <PresentationFormat>Widescreen</PresentationFormat>
  <Paragraphs>72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Roboto</vt:lpstr>
      <vt:lpstr>Trebuchet MS</vt:lpstr>
      <vt:lpstr>Wingdings</vt:lpstr>
      <vt:lpstr>Office Theme</vt:lpstr>
      <vt:lpstr>Table :  CEHSHOURWORKED  App name :  Manage work hours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Jawalkar, Sunil</dc:creator>
  <cp:lastModifiedBy>Arnav Johri</cp:lastModifiedBy>
  <cp:revision>2</cp:revision>
  <dcterms:created xsi:type="dcterms:W3CDTF">2025-09-23T11:22:22Z</dcterms:created>
  <dcterms:modified xsi:type="dcterms:W3CDTF">2025-11-20T10:23:25Z</dcterms:modified>
</cp:coreProperties>
</file>